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License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265.6</c:v>
                </c:pt>
                <c:pt idx="1">
                  <c:v>249.4</c:v>
                </c:pt>
                <c:pt idx="2">
                  <c:v>251.9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Subscription &amp; support</c:v>
                </c:pt>
              </c:strCache>
            </c:strRef>
          </c:tx>
          <c:spPr>
            <a:solidFill>
              <a:srgbClr val="0F9E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429.7</c:v>
                </c:pt>
                <c:pt idx="1">
                  <c:v>549.8</c:v>
                </c:pt>
                <c:pt idx="2">
                  <c:v>731.3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B9C2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210.1</c:v>
                </c:pt>
                <c:pt idx="1">
                  <c:v>181.2</c:v>
                </c:pt>
                <c:pt idx="2">
                  <c:v>219.2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1.25x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470</c:v>
                </c:pt>
                <c:pt idx="1">
                  <c:v>453.4</c:v>
                </c:pt>
                <c:pt idx="2">
                  <c:v>433.1</c:v>
                </c:pt>
                <c:pt idx="3">
                  <c:v>410.6</c:v>
                </c:pt>
                <c:pt idx="4">
                  <c:v>414.2</c:v>
                </c:pt>
                <c:pt idx="5">
                  <c:v>414.2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1.50x</c:v>
                </c:pt>
              </c:strCache>
            </c:strRef>
          </c:tx>
          <c:spPr>
            <a:solidFill>
              <a:srgbClr val="0F9E99"/>
            </a:solidFill>
            <a:ln w="38100" cap="flat">
              <a:solidFill>
                <a:srgbClr val="0F9E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9E99"/>
              </a:solidFill>
              <a:ln w="9525" cap="flat">
                <a:solidFill>
                  <a:srgbClr val="0F9E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470</c:v>
                </c:pt>
                <c:pt idx="1">
                  <c:v>458.3</c:v>
                </c:pt>
                <c:pt idx="2">
                  <c:v>447.5</c:v>
                </c:pt>
                <c:pt idx="3">
                  <c:v>434</c:v>
                </c:pt>
                <c:pt idx="4">
                  <c:v>440.3</c:v>
                </c:pt>
                <c:pt idx="5">
                  <c:v>444.8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— 2.00x</c:v>
                </c:pt>
              </c:strCache>
            </c:strRef>
          </c:tx>
          <c:spPr>
            <a:solidFill>
              <a:srgbClr val="DB8A34"/>
            </a:solidFill>
            <a:ln w="38100" cap="flat">
              <a:solidFill>
                <a:srgbClr val="DB8A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B8A34"/>
              </a:solidFill>
              <a:ln w="9525" cap="flat">
                <a:solidFill>
                  <a:srgbClr val="DB8A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470</c:v>
                </c:pt>
                <c:pt idx="1">
                  <c:v>461</c:v>
                </c:pt>
                <c:pt idx="2">
                  <c:v>456.5</c:v>
                </c:pt>
                <c:pt idx="3">
                  <c:v>455.6</c:v>
                </c:pt>
                <c:pt idx="4">
                  <c:v>470</c:v>
                </c:pt>
                <c:pt idx="5">
                  <c:v>479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0"/>
          <c:min val="380"/>
        </c:scaling>
        <c:delete val="0"/>
        <c:axPos val="l"/>
        <c:majorGridlines>
          <c:spPr>
            <a:ln w="6350" cap="flat">
              <a:solidFill>
                <a:srgbClr val="EA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1.25x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313.9</c:v>
                </c:pt>
                <c:pt idx="2">
                  <c:v>323.4</c:v>
                </c:pt>
                <c:pt idx="3">
                  <c:v>330.6</c:v>
                </c:pt>
                <c:pt idx="4">
                  <c:v>334.2</c:v>
                </c:pt>
                <c:pt idx="5">
                  <c:v>334.2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1.50x</c:v>
                </c:pt>
              </c:strCache>
            </c:strRef>
          </c:tx>
          <c:spPr>
            <a:solidFill>
              <a:srgbClr val="0F9E99"/>
            </a:solidFill>
            <a:ln w="38100" cap="flat">
              <a:solidFill>
                <a:srgbClr val="0F9E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9E99"/>
              </a:solidFill>
              <a:ln w="9525" cap="flat">
                <a:solidFill>
                  <a:srgbClr val="0F9E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300</c:v>
                </c:pt>
                <c:pt idx="1">
                  <c:v>318.9</c:v>
                </c:pt>
                <c:pt idx="2">
                  <c:v>337.8</c:v>
                </c:pt>
                <c:pt idx="3">
                  <c:v>354</c:v>
                </c:pt>
                <c:pt idx="4">
                  <c:v>360.3</c:v>
                </c:pt>
                <c:pt idx="5">
                  <c:v>364.8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— 2.00x</c:v>
                </c:pt>
              </c:strCache>
            </c:strRef>
          </c:tx>
          <c:spPr>
            <a:solidFill>
              <a:srgbClr val="DB8A34"/>
            </a:solidFill>
            <a:ln w="38100" cap="flat">
              <a:solidFill>
                <a:srgbClr val="DB8A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B8A34"/>
              </a:solidFill>
              <a:ln w="9525" cap="flat">
                <a:solidFill>
                  <a:srgbClr val="DB8A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Yr0</c:v>
                  </c:pt>
                  <c:pt idx="1">
                    <c:v>Yr1</c:v>
                  </c:pt>
                  <c:pt idx="2">
                    <c:v>Yr2</c:v>
                  </c:pt>
                  <c:pt idx="3">
                    <c:v>Yr3</c:v>
                  </c:pt>
                  <c:pt idx="4">
                    <c:v>Yr4</c:v>
                  </c:pt>
                  <c:pt idx="5">
                    <c:v>Yr5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300</c:v>
                </c:pt>
                <c:pt idx="1">
                  <c:v>321.6</c:v>
                </c:pt>
                <c:pt idx="2">
                  <c:v>346.8</c:v>
                </c:pt>
                <c:pt idx="3">
                  <c:v>375.6</c:v>
                </c:pt>
                <c:pt idx="4">
                  <c:v>390</c:v>
                </c:pt>
                <c:pt idx="5">
                  <c:v>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— 2.00x (stressed)</c:v>
                </c:pt>
              </c:strCache>
            </c:strRef>
          </c:tx>
          <c:spPr>
            <a:solidFill>
              <a:srgbClr val="DB8A34"/>
            </a:solidFill>
            <a:ln w="38100" cap="flat">
              <a:solidFill>
                <a:srgbClr val="DB8A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B8A34"/>
              </a:solidFill>
              <a:ln w="9525" cap="flat">
                <a:solidFill>
                  <a:srgbClr val="DB8A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11%</c:v>
                  </c:pt>
                  <c:pt idx="1">
                    <c:v>13%</c:v>
                  </c:pt>
                  <c:pt idx="2">
                    <c:v>15%</c:v>
                  </c:pt>
                  <c:pt idx="3">
                    <c:v>17%</c:v>
                  </c:pt>
                  <c:pt idx="4">
                    <c:v>20%</c:v>
                  </c:pt>
                  <c:pt idx="5">
                    <c:v>22%</c:v>
                  </c:pt>
                  <c:pt idx="6">
                    <c:v>25%</c:v>
                  </c:pt>
                  <c:pt idx="7">
                    <c:v>28%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399</c:v>
                </c:pt>
                <c:pt idx="1">
                  <c:v>390.3</c:v>
                </c:pt>
                <c:pt idx="2">
                  <c:v>381.6</c:v>
                </c:pt>
                <c:pt idx="3">
                  <c:v>372.9</c:v>
                </c:pt>
                <c:pt idx="4">
                  <c:v>364.2</c:v>
                </c:pt>
                <c:pt idx="5">
                  <c:v>355.4</c:v>
                </c:pt>
                <c:pt idx="6">
                  <c:v>342.4</c:v>
                </c:pt>
                <c:pt idx="7">
                  <c:v>333.7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1.50x (steady)</c:v>
                </c:pt>
              </c:strCache>
            </c:strRef>
          </c:tx>
          <c:spPr>
            <a:solidFill>
              <a:srgbClr val="0F9E99"/>
            </a:solidFill>
            <a:ln w="38100" cap="flat">
              <a:solidFill>
                <a:srgbClr val="0F9E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9E99"/>
              </a:solidFill>
              <a:ln w="9525" cap="flat">
                <a:solidFill>
                  <a:srgbClr val="0F9E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11%</c:v>
                  </c:pt>
                  <c:pt idx="1">
                    <c:v>13%</c:v>
                  </c:pt>
                  <c:pt idx="2">
                    <c:v>15%</c:v>
                  </c:pt>
                  <c:pt idx="3">
                    <c:v>17%</c:v>
                  </c:pt>
                  <c:pt idx="4">
                    <c:v>20%</c:v>
                  </c:pt>
                  <c:pt idx="5">
                    <c:v>22%</c:v>
                  </c:pt>
                  <c:pt idx="6">
                    <c:v>25%</c:v>
                  </c:pt>
                  <c:pt idx="7">
                    <c:v>28%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364.8</c:v>
                </c:pt>
                <c:pt idx="1">
                  <c:v>364.8</c:v>
                </c:pt>
                <c:pt idx="2">
                  <c:v>364.8</c:v>
                </c:pt>
                <c:pt idx="3">
                  <c:v>364.8</c:v>
                </c:pt>
                <c:pt idx="4">
                  <c:v>364.8</c:v>
                </c:pt>
                <c:pt idx="5">
                  <c:v>364.8</c:v>
                </c:pt>
                <c:pt idx="6">
                  <c:v>364.8</c:v>
                </c:pt>
                <c:pt idx="7">
                  <c:v>364.8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Calibri"/>
                  </a:rPr>
                  <a:t>Cumulative churn at 2.0x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10"/>
          <c:min val="320"/>
        </c:scaling>
        <c:delete val="0"/>
        <c:axPos val="l"/>
        <c:majorGridlines>
          <c:spPr>
            <a:ln w="6350" cap="flat">
              <a:solidFill>
                <a:srgbClr val="EA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decision precisely: the market forces migration; our job is the commercial structure. Three levers — conversion multiple, pace, sunset window. The whole deck is grounded in real disclosures, not invented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trough comes from forgone upfront license on new business as perpetual sunsets — not from the conversion multiple. Two separate levers; we model them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credibility shield. If asked 'did you make this up' — point here: disclosed core vs bounded scenario layer, with a reconciliation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empirical anchor. Our model reproduces this pattern. Note Guidewire prices on direct written premium, not seats — the right metric for insurance core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elasticity link — higher multiple slows adoption and raises churn — is what makes this a real trade-off rather than 'pick the highest price'. These adoption/churn figures are the key bounded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but real: the higher multiple (C) has the SHALLOWEST trough, because each conversion adds more subscription revenue and slower conversion keeps more maintenance on the books. All troughs bottom at Year 3 — when license hits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leads on ARR AND gross profit under base assumptions. But the margin compression is real and must be shown — a CFO runs on margin and cash, not ARR alone. This sets up the sensitivity: does C's lead survive realistic price resistance?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core. The recommendation is not dogmatic — it's conditional on an empirical question (price resistance) that can be tested with a willingness-to-pay study. ~4%/yr churn on a price-doubling is entirely plausible, which is why B is the safe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B as the risk-adjusted call. Frame C as a tested upside, not a gamble. Close the governance loop — recognition for prior investment via one-time credits, not impaired subscription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concrete ask. The decision is B now; C is a fast-follow conditional on the WTP study. Reiterate that every number traces to a filing or a bounded, stated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389120" cy="438912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TRANSFORMATION  ·  INSURANCE SOFTWARE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Perpetual to SaaS Migration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terms, pace, and trough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not whether to migrate, but at what conversion multiple, over what window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long-term ARR while keeping the near-term revenue trough within board tolerance.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CFO · Head of Pricing · Sales Leadership      |      Grounded in Guidewire, Sapiens &amp; Duck Creek disclosures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actually deciding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perpetual-license customers to SaaS is inevitable. The commercial question is the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poorly structured migration either leaves ARR on the table or triggers a revenue trough the board won't accept.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the landmine: perpetual license is booked upfront; SaaS is recognised ratably. Give up upfront license bookings faster than subscription ramps, and reported revenue dips before it recovers.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0" y="1828800"/>
            <a:ext cx="822960" cy="822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35240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multiple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21214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priced relative to prior maintenance — value capture per customer.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3090672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3364992"/>
            <a:ext cx="822960" cy="822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3524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&amp; adoption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base converts; a higher price slows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626864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901184"/>
            <a:ext cx="822960" cy="822960"/>
          </a:xfrm>
          <a:prstGeom prst="ellipse">
            <a:avLst/>
          </a:prstGeom>
          <a:solidFill>
            <a:srgbClr val="162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901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window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35240" y="51937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perpetual stays sellable — the true driver of trough depth.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CREDIBLE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disclosure, not invention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CORE — disclosed &amp; cited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line, ARR, gross margins, retention — taken directly from Guidewire (anchor), Sapiens and Duck Creek filings. Every figure carries a source citation; figures inferred from a disclosed growth rate are flagged as derived. Nothing fabricated.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B8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LAYER — assumptions, bounded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multiples, adoption pace, churn — the only assumptions, isolated here and bounded by published benchmarks (e.g. Duck Creek's disclosed 108–120% net retention). Scenarios operate on the real base and must reconcile to it.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line: “The core is auditable to filings; assumptions are transparent and bounded — fabricated transaction data would undermine the whole model.”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GUIDEWIRE, FY2023–FY2025 (USD 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transition is real — and measurable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support nearly doubled in two years (430 → 731).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stayed flat (~250) — the perpetual engine has stopped growing.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Mid-transition revenue growth decelerated, then re-accelerated: the trough, in real data.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migration paths, one variable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priced as a multiple of prior annual maintenance ARR. Same 36-month sunset; the higher the multiple, the more value captured per conversion — but the slower the adoption and the higher the churn.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914400" cy="9144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convert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churn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adoption, least value per customer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560320"/>
            <a:ext cx="914400" cy="914400"/>
          </a:xfrm>
          <a:prstGeom prst="ellipse">
            <a:avLst/>
          </a:prstGeom>
          <a:solidFill>
            <a:srgbClr val="0F9E99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50992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99432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41148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convert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churn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adoption and value capture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1584" y="228600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2560320"/>
            <a:ext cx="914400" cy="914400"/>
          </a:xfrm>
          <a:prstGeom prst="ellipse">
            <a:avLst/>
          </a:prstGeom>
          <a:solidFill>
            <a:srgbClr val="DB8A34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427464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2.00x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75904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8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capture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94192" y="41148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convert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churn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per conversion, most resistance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REVENUE BY SCENARIO (USD 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near-term revenue trough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DEPTH (vs Year 0)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38160" y="219456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2286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784080" y="2286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at Year 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38160" y="3520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0" y="36118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E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784080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at Year 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48463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21040" y="49377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B8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784080" y="4937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at Year 3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TRAJECTORY (USD 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ARR — and the margin catch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830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revenue multiple is NOT a profit multiple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6676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carries hosting COGS, so blended gross margin compresses from ~74% to ~58–61% as the mix shifts. We track gross profit, not just ARR.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393192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6676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gross profit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DB8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$290M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$263M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·  $239M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PRICE RESISTANCE AT 2.0X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answer hinges on one assumption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customers tolerate a price-doubling with low churn, C wins. As resistance rises, C's Year-5 ARR falls toward B's. The recommendation flips where it crosses.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40280"/>
          <a:ext cx="7315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33172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6243B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POINT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6676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churn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42062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~20% churn at 2.0x (≈4%/yr), Scenario B overtakes C. Below it, C wins. That single number decides the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F9E9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Scenario B (1.5x) as the base case.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~$31M more Year-5 ARR than the aggressive-low path while holding the trough to 7.7% — robust even if price resistance runs high.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B, not 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leads only while 2.0x churn stays below ~20% — an unproven bet.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wins on ARR and gross profit vs A with a shallower, manageable trough.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margin and cash through the transition.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9718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8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escalate to 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 willingness-to-pay study confirms resistance below the flip point.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here: insurance core systems carry very high switching costs.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~$34M more Year-5 ARR than B.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guardrails: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credits (one-time, not permanent discounts)  ·  step-up ramps for strategic accounts  ·  deal-desk approval tiers by discount depth  ·  NDR held within the disclosed 108–120% band.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Scenario B, fund the willingness-to-pay study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0F9E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B (1.5x)   </a:t>
            </a:r>
            <a:pPr indent="0" marL="0"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conversion terms and the 36-month sunset as the base case.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0F9E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WTP study   </a:t>
            </a:r>
            <a:pPr indent="0" marL="0"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2.0x resistance against the ~20% churn flip point before escalating.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640080" cy="640080"/>
          </a:xfrm>
          <a:prstGeom prst="ellipse">
            <a:avLst/>
          </a:prstGeom>
          <a:solidFill>
            <a:srgbClr val="0F9E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   </a:t>
            </a:r>
            <a:pPr indent="0" marL="0">
              <a:buNone/>
            </a:pPr>
            <a:r>
              <a:rPr lang="en-US" sz="1500" dirty="0">
                <a:solidFill>
                  <a:srgbClr val="AE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Deal-desk tiers, migration-credit policy, NDR monitoring.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public disclosures (Guidewire · Sapiens · Duck Creek)  ·  assumptions transparent and bounded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Perpetual to SaaS Migration</dc:title>
  <dc:subject>PptxGenJS Presentation</dc:subject>
  <dc:creator>Pricing Strategy</dc:creator>
  <cp:lastModifiedBy>Pricing Strategy</cp:lastModifiedBy>
  <cp:revision>1</cp:revision>
  <dcterms:created xsi:type="dcterms:W3CDTF">2026-06-11T02:48:08Z</dcterms:created>
  <dcterms:modified xsi:type="dcterms:W3CDTF">2026-06-11T02:48:08Z</dcterms:modified>
</cp:coreProperties>
</file>